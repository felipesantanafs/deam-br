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B33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10637215" y="0"/>
            <a:ext cx="0" cy="6858000"/>
          </a:xfrm>
          <a:prstGeom prst="line">
            <a:avLst/>
          </a:prstGeom>
          <a:ln w="6350">
            <a:solidFill>
              <a:srgbClr val="C19A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11002975" y="0"/>
            <a:ext cx="0" cy="6858000"/>
          </a:xfrm>
          <a:prstGeom prst="line">
            <a:avLst/>
          </a:prstGeom>
          <a:ln w="6350">
            <a:solidFill>
              <a:srgbClr val="C19A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48640" y="292608"/>
            <a:ext cx="20116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19A3E"/>
                </a:solidFill>
                <a:latin typeface="Calibri"/>
              </a:rPr>
              <a:t>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8096" y="292608"/>
            <a:ext cx="4572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ECE7D8"/>
                </a:solidFill>
                <a:latin typeface="Georgia"/>
              </a:rPr>
              <a:t>DEAM · BR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331720"/>
            <a:ext cx="10058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C19A3E"/>
                </a:solidFill>
                <a:latin typeface="Calibri"/>
              </a:rPr>
              <a:t>AVALIAÇÃO DE IMPACTO CAUSAL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724912"/>
            <a:ext cx="960120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 i="0">
                <a:solidFill>
                  <a:srgbClr val="ECE7D8"/>
                </a:solidFill>
                <a:latin typeface="Georgia"/>
              </a:rPr>
              <a:t>Conversão de DEAMs para</a:t>
            </a:r>
          </a:p>
          <a:p>
            <a:r>
              <a:rPr sz="3400" b="1" i="0">
                <a:solidFill>
                  <a:srgbClr val="ECE7D8"/>
                </a:solidFill>
                <a:latin typeface="Georgia"/>
              </a:rPr>
              <a:t>Plantão 24h no Brasil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4462272"/>
            <a:ext cx="2011680" cy="34747"/>
          </a:xfrm>
          <a:prstGeom prst="rect">
            <a:avLst/>
          </a:prstGeom>
          <a:solidFill>
            <a:srgbClr val="C19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4535424"/>
            <a:ext cx="9601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ECE7D8"/>
                </a:solidFill>
                <a:latin typeface="Georgia"/>
              </a:rPr>
              <a:t>Do acesso à proteção — uma abordagem via Callaway &amp; Sant'Anna (2021)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937760"/>
            <a:ext cx="9144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
                  <a:srgbClr val="ECE7D8"/>
                </a:solidFill>
                <a:latin typeface="Calibri"/>
              </a:rPr>
              <a:t>Felipe Silva  </a:t>
            </a:r>
            <a:r>
              <a:rPr sz="1300" b="0" i="0">
                <a:solidFill>
                  <a:srgbClr val="C19A3E"/>
                </a:solidFill>
                <a:latin typeface="Calibri"/>
              </a:rPr>
              <a:t>·</a:t>
            </a:r>
            <a:r>
              <a:rPr sz="1300" b="0" i="0">
                <a:solidFill>
                  <a:srgbClr val="ECE7D8"/>
                </a:solidFill>
                <a:latin typeface="Calibri"/>
              </a:rPr>
              <a:t>  Rafael Issa de Lima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437376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C19A3E"/>
                </a:solidFill>
                <a:latin typeface="Calibri"/>
              </a:rPr>
              <a:t>APRESENTAÇÃO TÉCNICA  ·  DEAM-BR  ·  PAINEL 2009–2019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83464"/>
            <a:ext cx="182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C19A3E"/>
                </a:solidFill>
                <a:latin typeface="Calibri"/>
              </a:rPr>
              <a:t>•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283464"/>
            <a:ext cx="6858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16294C"/>
                </a:solidFill>
                <a:latin typeface="Calibri"/>
              </a:rPr>
              <a:t>CONTEXTO · 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0" y="283464"/>
            <a:ext cx="3383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1">
                <a:solidFill>
                  <a:srgbClr val="5C6B82"/>
                </a:solidFill>
                <a:latin typeface="Georgia"/>
              </a:rPr>
              <a:t>DEAM · BR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21207"/>
            <a:ext cx="11173968" cy="10972"/>
          </a:xfrm>
          <a:prstGeom prst="rect">
            <a:avLst/>
          </a:prstGeom>
          <a:solidFill>
            <a:srgbClr val="D8D2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576072"/>
            <a:ext cx="38404" cy="502920"/>
          </a:xfrm>
          <a:prstGeom prst="rect">
            <a:avLst/>
          </a:prstGeom>
          <a:solidFill>
            <a:srgbClr val="C19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12648" y="576072"/>
            <a:ext cx="109728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6294C"/>
                </a:solidFill>
                <a:latin typeface="Georgia"/>
              </a:rPr>
              <a:t>O Problema e a Cadeia Causal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" y="886968"/>
            <a:ext cx="10972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5C6B82"/>
                </a:solidFill>
                <a:latin typeface="Georgia"/>
              </a:rPr>
              <a:t>Por que ampliar o horário de atendimento das delegacias?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2" y="6556248"/>
            <a:ext cx="182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19A3E"/>
                </a:solidFill>
                <a:latin typeface="Calibri"/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556248"/>
            <a:ext cx="8686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5C6B82"/>
                </a:solidFill>
                <a:latin typeface="Calibri"/>
              </a:rPr>
              <a:t>AVALIAÇÃO DE IMPACTO  ·  DEAMS 24H NO BRASIL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0" y="6556248"/>
            <a:ext cx="1463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1">
                <a:solidFill>
                  <a:srgbClr val="5C6B82"/>
                </a:solidFill>
                <a:latin typeface="Georgia"/>
              </a:rPr>
              <a:t>01 / 06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1188720"/>
            <a:ext cx="5943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C19A3E"/>
                </a:solidFill>
                <a:latin typeface="Calibri"/>
              </a:rPr>
              <a:t>O PROBLEMA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1426464"/>
            <a:ext cx="52578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C2C2C"/>
                </a:solidFill>
                <a:latin typeface="Calibri"/>
              </a:rPr>
              <a:t>DEAMs operam, em regra, em horário comercial (9h–18h). Mas a violência não: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1901952"/>
            <a:ext cx="525780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600" b="1" i="0">
                <a:solidFill>
                  <a:srgbClr val="A8443C"/>
                </a:solidFill>
                <a:latin typeface="Georgia"/>
              </a:rPr>
              <a:t>57%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3383280"/>
            <a:ext cx="48463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5C6B82"/>
                </a:solidFill>
                <a:latin typeface="Calibri"/>
              </a:rPr>
              <a:t>das notificações ocorrem fora do horário comercial (08h–17h)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08192" y="1188720"/>
            <a:ext cx="5943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C19A3E"/>
                </a:solidFill>
                <a:latin typeface="Calibri"/>
              </a:rPr>
              <a:t>CADEIA CAUSAL (CIFRA OCULTA)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08192" y="1417320"/>
            <a:ext cx="5779008" cy="347472"/>
          </a:xfrm>
          <a:prstGeom prst="rect">
            <a:avLst/>
          </a:prstGeom>
          <a:solidFill>
            <a:srgbClr val="FBFAF5"/>
          </a:solidFill>
          <a:ln w="5080">
            <a:solidFill>
              <a:srgbClr val="D8D2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08192" y="1417320"/>
            <a:ext cx="34747" cy="347472"/>
          </a:xfrm>
          <a:prstGeom prst="rect">
            <a:avLst/>
          </a:prstGeom>
          <a:solidFill>
            <a:srgbClr val="C19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99631" y="1490472"/>
            <a:ext cx="565099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6294C"/>
                </a:solidFill>
                <a:latin typeface="Georgia"/>
              </a:rPr>
              <a:t>Plantão 24h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60536" y="1773936"/>
            <a:ext cx="274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C19A3E"/>
                </a:solidFill>
                <a:latin typeface="Calibri"/>
              </a:rPr>
              <a:t>↓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08192" y="1965960"/>
            <a:ext cx="5779008" cy="475488"/>
          </a:xfrm>
          <a:prstGeom prst="rect">
            <a:avLst/>
          </a:prstGeom>
          <a:solidFill>
            <a:srgbClr val="FBFAF5"/>
          </a:solidFill>
          <a:ln w="5080">
            <a:solidFill>
              <a:srgbClr val="D8D2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08192" y="1965960"/>
            <a:ext cx="34747" cy="475488"/>
          </a:xfrm>
          <a:prstGeom prst="rect">
            <a:avLst/>
          </a:prstGeom>
          <a:solidFill>
            <a:srgbClr val="4F7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199631" y="2011680"/>
            <a:ext cx="565099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6294C"/>
                </a:solidFill>
                <a:latin typeface="Georgia"/>
              </a:rPr>
              <a:t>↑ Acesso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99631" y="2231136"/>
            <a:ext cx="565099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1">
                <a:solidFill>
                  <a:srgbClr val="5C6B82"/>
                </a:solidFill>
                <a:latin typeface="Calibri"/>
              </a:rPr>
              <a:t>mais notificações noturnas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60536" y="2450592"/>
            <a:ext cx="274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C19A3E"/>
                </a:solidFill>
                <a:latin typeface="Calibri"/>
              </a:rPr>
              <a:t>↓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08192" y="2642616"/>
            <a:ext cx="5779008" cy="475488"/>
          </a:xfrm>
          <a:prstGeom prst="rect">
            <a:avLst/>
          </a:prstGeom>
          <a:solidFill>
            <a:srgbClr val="FBFAF5"/>
          </a:solidFill>
          <a:ln w="5080">
            <a:solidFill>
              <a:srgbClr val="D8D2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108192" y="2642616"/>
            <a:ext cx="34747" cy="475488"/>
          </a:xfrm>
          <a:prstGeom prst="rect">
            <a:avLst/>
          </a:prstGeom>
          <a:solidFill>
            <a:srgbClr val="4F7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199631" y="2688336"/>
            <a:ext cx="565099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6294C"/>
                </a:solidFill>
                <a:latin typeface="Georgia"/>
              </a:rPr>
              <a:t>Proteção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99631" y="2907792"/>
            <a:ext cx="565099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1">
                <a:solidFill>
                  <a:srgbClr val="5C6B82"/>
                </a:solidFill>
                <a:latin typeface="Calibri"/>
              </a:rPr>
              <a:t>medidas protetivas de urgência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860536" y="3127248"/>
            <a:ext cx="274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C19A3E"/>
                </a:solidFill>
                <a:latin typeface="Calibri"/>
              </a:rPr>
              <a:t>↓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108192" y="3319272"/>
            <a:ext cx="5779008" cy="475488"/>
          </a:xfrm>
          <a:prstGeom prst="rect">
            <a:avLst/>
          </a:prstGeom>
          <a:solidFill>
            <a:srgbClr val="FBFAF5"/>
          </a:solidFill>
          <a:ln w="5080">
            <a:solidFill>
              <a:srgbClr val="D8D2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108192" y="3319272"/>
            <a:ext cx="34747" cy="475488"/>
          </a:xfrm>
          <a:prstGeom prst="rect">
            <a:avLst/>
          </a:prstGeom>
          <a:solidFill>
            <a:srgbClr val="A84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199631" y="3364992"/>
            <a:ext cx="565099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6294C"/>
                </a:solidFill>
                <a:latin typeface="Georgia"/>
              </a:rPr>
              <a:t>↓ Letalidade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199631" y="3584448"/>
            <a:ext cx="565099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1">
                <a:solidFill>
                  <a:srgbClr val="5C6B82"/>
                </a:solidFill>
                <a:latin typeface="Calibri"/>
              </a:rPr>
              <a:t>feminicídios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83464"/>
            <a:ext cx="182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C19A3E"/>
                </a:solidFill>
                <a:latin typeface="Calibri"/>
              </a:rPr>
              <a:t>•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283464"/>
            <a:ext cx="6858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16294C"/>
                </a:solidFill>
                <a:latin typeface="Calibri"/>
              </a:rPr>
              <a:t>METODOLOGIA · 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0" y="283464"/>
            <a:ext cx="3383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1">
                <a:solidFill>
                  <a:srgbClr val="5C6B82"/>
                </a:solidFill>
                <a:latin typeface="Georgia"/>
              </a:rPr>
              <a:t>DEAM · BR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21207"/>
            <a:ext cx="11173968" cy="10972"/>
          </a:xfrm>
          <a:prstGeom prst="rect">
            <a:avLst/>
          </a:prstGeom>
          <a:solidFill>
            <a:srgbClr val="D8D2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576072"/>
            <a:ext cx="38404" cy="502920"/>
          </a:xfrm>
          <a:prstGeom prst="rect">
            <a:avLst/>
          </a:prstGeom>
          <a:solidFill>
            <a:srgbClr val="C19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12648" y="576072"/>
            <a:ext cx="109728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6294C"/>
                </a:solidFill>
                <a:latin typeface="Georgia"/>
              </a:rPr>
              <a:t>Metodologia e o Desafio dos Dados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" y="886968"/>
            <a:ext cx="10972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5C6B82"/>
                </a:solidFill>
                <a:latin typeface="Georgia"/>
              </a:rPr>
              <a:t>Identificação sob adoção escalonada — desfechos em taxa /100k hab.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2" y="6556248"/>
            <a:ext cx="182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19A3E"/>
                </a:solidFill>
                <a:latin typeface="Calibri"/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556248"/>
            <a:ext cx="8686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5C6B82"/>
                </a:solidFill>
                <a:latin typeface="Calibri"/>
              </a:rPr>
              <a:t>AVALIAÇÃO DE IMPACTO  ·  DEAMS 24H NO BRASIL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0" y="6556248"/>
            <a:ext cx="1463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1">
                <a:solidFill>
                  <a:srgbClr val="5C6B82"/>
                </a:solidFill>
                <a:latin typeface="Georgia"/>
              </a:rPr>
              <a:t>02 / 06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1188720"/>
            <a:ext cx="5349240" cy="1078992"/>
          </a:xfrm>
          <a:prstGeom prst="rect">
            <a:avLst/>
          </a:prstGeom>
          <a:solidFill>
            <a:srgbClr val="FBF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02920" y="1188720"/>
            <a:ext cx="38404" cy="1078992"/>
          </a:xfrm>
          <a:prstGeom prst="rect">
            <a:avLst/>
          </a:prstGeom>
          <a:solidFill>
            <a:srgbClr val="A84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3504" y="1239012"/>
            <a:ext cx="521207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A8443C"/>
                </a:solidFill>
                <a:latin typeface="Calibri"/>
              </a:rPr>
              <a:t>O PROBLEMA DO TWFE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3504" y="1417320"/>
            <a:ext cx="5212079" cy="822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C2C2C"/>
                </a:solidFill>
                <a:latin typeface="Calibri"/>
              </a:rPr>
              <a:t>Goodman-Bacon (2021): com adoção escalonada (10 coortes), o estimador de efeitos fixos gera pesos negativos sob efeitos heterogêneos.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2359152"/>
            <a:ext cx="5349240" cy="987552"/>
          </a:xfrm>
          <a:prstGeom prst="rect">
            <a:avLst/>
          </a:prstGeom>
          <a:solidFill>
            <a:srgbClr val="FBF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02920" y="2359152"/>
            <a:ext cx="38404" cy="987552"/>
          </a:xfrm>
          <a:prstGeom prst="rect">
            <a:avLst/>
          </a:prstGeom>
          <a:solidFill>
            <a:srgbClr val="4F7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3504" y="2409444"/>
            <a:ext cx="521207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4F7A4E"/>
                </a:solidFill>
                <a:latin typeface="Calibri"/>
              </a:rPr>
              <a:t>A SOLUÇÃO · CS-DID (2021)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3504" y="2587752"/>
            <a:ext cx="5212079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C2C2C"/>
                </a:solidFill>
                <a:latin typeface="Calibri"/>
              </a:rPr>
              <a:t>Efeitos por coorte-tempo ATT(g,t): os 38 tratados comparados apenas com os 247 nunca-tratados (grupo de controle limpo).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26480" y="1188720"/>
            <a:ext cx="5943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C19A3E"/>
                </a:solidFill>
                <a:latin typeface="Calibri"/>
              </a:rPr>
              <a:t>38 TRATADOS EM 10 COORTES (2014 = MAIOR)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26480" y="1426464"/>
            <a:ext cx="5760720" cy="4133087"/>
          </a:xfrm>
          <a:prstGeom prst="rect">
            <a:avLst/>
          </a:prstGeom>
          <a:solidFill>
            <a:srgbClr val="FFFFFF"/>
          </a:solidFill>
          <a:ln w="6350">
            <a:solidFill>
              <a:srgbClr val="D8D2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00b_coort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90488" y="1490472"/>
            <a:ext cx="5632704" cy="400507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83464"/>
            <a:ext cx="182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C19A3E"/>
                </a:solidFill>
                <a:latin typeface="Calibri"/>
              </a:rPr>
              <a:t>•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283464"/>
            <a:ext cx="6858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16294C"/>
                </a:solidFill>
                <a:latin typeface="Calibri"/>
              </a:rPr>
              <a:t>RESULTADOS · 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0" y="283464"/>
            <a:ext cx="3383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1">
                <a:solidFill>
                  <a:srgbClr val="5C6B82"/>
                </a:solidFill>
                <a:latin typeface="Georgia"/>
              </a:rPr>
              <a:t>DEAM · BR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21207"/>
            <a:ext cx="11173968" cy="10972"/>
          </a:xfrm>
          <a:prstGeom prst="rect">
            <a:avLst/>
          </a:prstGeom>
          <a:solidFill>
            <a:srgbClr val="D8D2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576072"/>
            <a:ext cx="38404" cy="502920"/>
          </a:xfrm>
          <a:prstGeom prst="rect">
            <a:avLst/>
          </a:prstGeom>
          <a:solidFill>
            <a:srgbClr val="C19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12648" y="576072"/>
            <a:ext cx="109728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6294C"/>
                </a:solidFill>
                <a:latin typeface="Georgia"/>
              </a:rPr>
              <a:t>Acesso e o Viés de Tendência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" y="886968"/>
            <a:ext cx="10972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5C6B82"/>
                </a:solidFill>
                <a:latin typeface="Georgia"/>
              </a:rPr>
              <a:t>Desfecho: taxa de notificações /100k (SINAN)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2" y="6556248"/>
            <a:ext cx="182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19A3E"/>
                </a:solidFill>
                <a:latin typeface="Calibri"/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556248"/>
            <a:ext cx="8686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5C6B82"/>
                </a:solidFill>
                <a:latin typeface="Calibri"/>
              </a:rPr>
              <a:t>AVALIAÇÃO DE IMPACTO  ·  DEAMS 24H NO BRASIL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0" y="6556248"/>
            <a:ext cx="1463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1">
                <a:solidFill>
                  <a:srgbClr val="5C6B82"/>
                </a:solidFill>
                <a:latin typeface="Georgia"/>
              </a:rPr>
              <a:t>03 / 06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1188720"/>
            <a:ext cx="6876288" cy="4370832"/>
          </a:xfrm>
          <a:prstGeom prst="rect">
            <a:avLst/>
          </a:prstGeom>
          <a:solidFill>
            <a:srgbClr val="FFFFFF"/>
          </a:solidFill>
          <a:ln w="6350">
            <a:solidFill>
              <a:srgbClr val="D8D2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notificacoes_02_event_stud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252728"/>
            <a:ext cx="6748272" cy="4242816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635240" y="1188720"/>
            <a:ext cx="5943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C19A3E"/>
                </a:solidFill>
                <a:latin typeface="Calibri"/>
              </a:rPr>
              <a:t>LEITURA CIENTÍFICA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35240" y="1426464"/>
            <a:ext cx="182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19A3E"/>
                </a:solidFill>
                <a:latin typeface="Calibri"/>
              </a:rPr>
              <a:t>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08975" y="1426464"/>
            <a:ext cx="4142231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 i="0">
                <a:solidFill>
                  <a:srgbClr val="16294C"/>
                </a:solidFill>
                <a:latin typeface="Calibri"/>
              </a:rPr>
              <a:t>ATT = −20,51  </a:t>
            </a:r>
            <a:r>
              <a:rPr sz="900" b="0" i="0">
                <a:solidFill>
                  <a:srgbClr val="2C2C2C"/>
                </a:solidFill>
                <a:latin typeface="Calibri"/>
              </a:rPr>
              <a:t>(p = 0,001)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35240" y="1755648"/>
            <a:ext cx="182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19A3E"/>
                </a:solidFill>
                <a:latin typeface="Calibri"/>
              </a:rPr>
              <a:t>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08975" y="1755648"/>
            <a:ext cx="4142231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 i="0">
                <a:solidFill>
                  <a:srgbClr val="16294C"/>
                </a:solidFill>
                <a:latin typeface="Calibri"/>
              </a:rPr>
              <a:t>Pré-tendências violadas  </a:t>
            </a:r>
            <a:r>
              <a:rPr sz="900" b="0" i="0">
                <a:solidFill>
                  <a:srgbClr val="2C2C2C"/>
                </a:solidFill>
                <a:latin typeface="Calibri"/>
              </a:rPr>
              <a:t>p Wald = 0,004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35240" y="2084831"/>
            <a:ext cx="182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19A3E"/>
                </a:solidFill>
                <a:latin typeface="Calibri"/>
              </a:rPr>
              <a:t>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08975" y="2084831"/>
            <a:ext cx="4142231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 i="0">
                <a:solidFill>
                  <a:srgbClr val="16294C"/>
                </a:solidFill>
                <a:latin typeface="Calibri"/>
              </a:rPr>
              <a:t>Pontos em t&lt;0  </a:t>
            </a:r>
            <a:r>
              <a:rPr sz="900" b="0" i="0">
                <a:solidFill>
                  <a:srgbClr val="2C2C2C"/>
                </a:solidFill>
                <a:latin typeface="Calibri"/>
              </a:rPr>
              <a:t>já divergem de zero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635240" y="2542032"/>
            <a:ext cx="4315968" cy="932688"/>
          </a:xfrm>
          <a:prstGeom prst="rect">
            <a:avLst/>
          </a:prstGeom>
          <a:solidFill>
            <a:srgbClr val="FBF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635240" y="2542032"/>
            <a:ext cx="38404" cy="932688"/>
          </a:xfrm>
          <a:prstGeom prst="rect">
            <a:avLst/>
          </a:prstGeom>
          <a:solidFill>
            <a:srgbClr val="A84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35823" y="2592324"/>
            <a:ext cx="4178807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A8443C"/>
                </a:solidFill>
                <a:latin typeface="Calibri"/>
              </a:rPr>
              <a:t>VEREDICTO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35823" y="2770632"/>
            <a:ext cx="4178807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C2C2C"/>
                </a:solidFill>
                <a:latin typeface="Calibri"/>
              </a:rPr>
              <a:t>O efeito capta uma trajetória prévia, não a política. Não interpretável como causal.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83464"/>
            <a:ext cx="182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C19A3E"/>
                </a:solidFill>
                <a:latin typeface="Calibri"/>
              </a:rPr>
              <a:t>•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283464"/>
            <a:ext cx="6858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16294C"/>
                </a:solidFill>
                <a:latin typeface="Calibri"/>
              </a:rPr>
              <a:t>RESULTADOS · 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0" y="283464"/>
            <a:ext cx="3383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1">
                <a:solidFill>
                  <a:srgbClr val="5C6B82"/>
                </a:solidFill>
                <a:latin typeface="Georgia"/>
              </a:rPr>
              <a:t>DEAM · BR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21207"/>
            <a:ext cx="11173968" cy="10972"/>
          </a:xfrm>
          <a:prstGeom prst="rect">
            <a:avLst/>
          </a:prstGeom>
          <a:solidFill>
            <a:srgbClr val="D8D2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576072"/>
            <a:ext cx="38404" cy="502920"/>
          </a:xfrm>
          <a:prstGeom prst="rect">
            <a:avLst/>
          </a:prstGeom>
          <a:solidFill>
            <a:srgbClr val="C19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12648" y="576072"/>
            <a:ext cx="109728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6294C"/>
                </a:solidFill>
                <a:latin typeface="Georgia"/>
              </a:rPr>
              <a:t>Letalidade e Adoção Reativa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" y="886968"/>
            <a:ext cx="10972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5C6B82"/>
                </a:solidFill>
                <a:latin typeface="Georgia"/>
              </a:rPr>
              <a:t>Desfecho: taxa de feminicídios /100k (SIM)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2" y="6556248"/>
            <a:ext cx="182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19A3E"/>
                </a:solidFill>
                <a:latin typeface="Calibri"/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556248"/>
            <a:ext cx="8686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5C6B82"/>
                </a:solidFill>
                <a:latin typeface="Calibri"/>
              </a:rPr>
              <a:t>AVALIAÇÃO DE IMPACTO  ·  DEAMS 24H NO BRASIL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0" y="6556248"/>
            <a:ext cx="1463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1">
                <a:solidFill>
                  <a:srgbClr val="5C6B82"/>
                </a:solidFill>
                <a:latin typeface="Georgia"/>
              </a:rPr>
              <a:t>04 / 06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1188720"/>
            <a:ext cx="6876288" cy="4370832"/>
          </a:xfrm>
          <a:prstGeom prst="rect">
            <a:avLst/>
          </a:prstGeom>
          <a:solidFill>
            <a:srgbClr val="FFFFFF"/>
          </a:solidFill>
          <a:ln w="6350">
            <a:solidFill>
              <a:srgbClr val="D8D2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feminicidios_02_event_stud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252728"/>
            <a:ext cx="6748272" cy="4242816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635240" y="1188720"/>
            <a:ext cx="5943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C19A3E"/>
                </a:solidFill>
                <a:latin typeface="Calibri"/>
              </a:rPr>
              <a:t>LEITURA CIENTÍFICA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35240" y="1426464"/>
            <a:ext cx="182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19A3E"/>
                </a:solidFill>
                <a:latin typeface="Calibri"/>
              </a:rPr>
              <a:t>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08975" y="1426464"/>
            <a:ext cx="4142231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 i="0">
                <a:solidFill>
                  <a:srgbClr val="16294C"/>
                </a:solidFill>
                <a:latin typeface="Calibri"/>
              </a:rPr>
              <a:t>Pré-tendências OK  </a:t>
            </a:r>
            <a:r>
              <a:rPr sz="900" b="0" i="0">
                <a:solidFill>
                  <a:srgbClr val="2C2C2C"/>
                </a:solidFill>
                <a:latin typeface="Calibri"/>
              </a:rPr>
              <a:t>p Wald = 0,165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35240" y="1773936"/>
            <a:ext cx="182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19A3E"/>
                </a:solidFill>
                <a:latin typeface="Calibri"/>
              </a:rPr>
              <a:t>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08975" y="1773936"/>
            <a:ext cx="4142231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 i="0">
                <a:solidFill>
                  <a:srgbClr val="16294C"/>
                </a:solidFill>
                <a:latin typeface="Calibri"/>
              </a:rPr>
              <a:t>ATT = +0,438  </a:t>
            </a:r>
            <a:r>
              <a:rPr sz="900" b="0" i="0">
                <a:solidFill>
                  <a:srgbClr val="2C2C2C"/>
                </a:solidFill>
                <a:latin typeface="Calibri"/>
              </a:rPr>
              <a:t>(p = 0,082) — sinal invertido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635240" y="2276856"/>
            <a:ext cx="4315968" cy="1042415"/>
          </a:xfrm>
          <a:prstGeom prst="rect">
            <a:avLst/>
          </a:prstGeom>
          <a:solidFill>
            <a:srgbClr val="FBF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635240" y="2276856"/>
            <a:ext cx="38404" cy="1042415"/>
          </a:xfrm>
          <a:prstGeom prst="rect">
            <a:avLst/>
          </a:prstGeom>
          <a:solidFill>
            <a:srgbClr val="C19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35823" y="2327148"/>
            <a:ext cx="4178807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C19A3E"/>
                </a:solidFill>
                <a:latin typeface="Calibri"/>
              </a:rPr>
              <a:t>INTUIÇÃO · ADOÇÃO REATIVA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35823" y="2505456"/>
            <a:ext cx="4178807" cy="7863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C2C2C"/>
                </a:solidFill>
                <a:latin typeface="Calibri"/>
              </a:rPr>
              <a:t>Gestores abrem DEAMs 24h onde a letalidade já está em viés de alta — causalidade reversa (endogeneidade).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83464"/>
            <a:ext cx="182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C19A3E"/>
                </a:solidFill>
                <a:latin typeface="Calibri"/>
              </a:rPr>
              <a:t>•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283464"/>
            <a:ext cx="6858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16294C"/>
                </a:solidFill>
                <a:latin typeface="Calibri"/>
              </a:rPr>
              <a:t>MECANISMO &amp; AGENDA · 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0" y="283464"/>
            <a:ext cx="3383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1">
                <a:solidFill>
                  <a:srgbClr val="5C6B82"/>
                </a:solidFill>
                <a:latin typeface="Georgia"/>
              </a:rPr>
              <a:t>DEAM · BR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521207"/>
            <a:ext cx="11173968" cy="10972"/>
          </a:xfrm>
          <a:prstGeom prst="rect">
            <a:avLst/>
          </a:prstGeom>
          <a:solidFill>
            <a:srgbClr val="D8D2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576072"/>
            <a:ext cx="38404" cy="502920"/>
          </a:xfrm>
          <a:prstGeom prst="rect">
            <a:avLst/>
          </a:prstGeom>
          <a:solidFill>
            <a:srgbClr val="C19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12648" y="576072"/>
            <a:ext cx="109728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6294C"/>
                </a:solidFill>
                <a:latin typeface="Georgia"/>
              </a:rPr>
              <a:t>Mecanismo e o Caminho à Frente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" y="886968"/>
            <a:ext cx="10972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5C6B82"/>
                </a:solidFill>
                <a:latin typeface="Georgia"/>
              </a:rPr>
              <a:t>Evidência de sazonalidade e próximos passos metodológicos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2" y="6556248"/>
            <a:ext cx="182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19A3E"/>
                </a:solidFill>
                <a:latin typeface="Calibri"/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556248"/>
            <a:ext cx="8686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5C6B82"/>
                </a:solidFill>
                <a:latin typeface="Calibri"/>
              </a:rPr>
              <a:t>AVALIAÇÃO DE IMPACTO  ·  DEAMS 24H NO BRASIL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0" y="6556248"/>
            <a:ext cx="1463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1">
                <a:solidFill>
                  <a:srgbClr val="5C6B82"/>
                </a:solidFill>
                <a:latin typeface="Georgia"/>
              </a:rPr>
              <a:t>05 / 06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1188720"/>
            <a:ext cx="5943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C19A3E"/>
                </a:solidFill>
                <a:latin typeface="Calibri"/>
              </a:rPr>
              <a:t>A DEMANDA NOTURNA É CONSTANTE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1408176"/>
            <a:ext cx="5440680" cy="292608"/>
          </a:xfrm>
          <a:prstGeom prst="rect">
            <a:avLst/>
          </a:prstGeom>
          <a:solidFill>
            <a:srgbClr val="162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66928" y="1426464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4F1E8"/>
                </a:solidFill>
                <a:latin typeface="Calibri"/>
              </a:rPr>
              <a:t>Grupo / Período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096512" y="1426464"/>
            <a:ext cx="1737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1" i="0">
                <a:solidFill>
                  <a:srgbClr val="F4F1E8"/>
                </a:solidFill>
                <a:latin typeface="Calibri"/>
              </a:rPr>
              <a:t>% fora 08–17h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1700784"/>
            <a:ext cx="5440680" cy="292608"/>
          </a:xfrm>
          <a:prstGeom prst="rect">
            <a:avLst/>
          </a:prstGeom>
          <a:solidFill>
            <a:srgbClr val="FBFAF5"/>
          </a:solidFill>
          <a:ln w="3810">
            <a:solidFill>
              <a:srgbClr val="D8D2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6928" y="1746504"/>
            <a:ext cx="34747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C2C2C"/>
                </a:solidFill>
                <a:latin typeface="Calibri"/>
              </a:rPr>
              <a:t>Tratados — antes do 24h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96512" y="1746504"/>
            <a:ext cx="1737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A8443C"/>
                </a:solidFill>
                <a:latin typeface="Calibri"/>
              </a:rPr>
              <a:t>57,1%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1993392"/>
            <a:ext cx="5440680" cy="292608"/>
          </a:xfrm>
          <a:prstGeom prst="rect">
            <a:avLst/>
          </a:prstGeom>
          <a:solidFill>
            <a:srgbClr val="FFFFFF"/>
          </a:solidFill>
          <a:ln w="3810">
            <a:solidFill>
              <a:srgbClr val="D8D2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66928" y="2039112"/>
            <a:ext cx="34747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C2C2C"/>
                </a:solidFill>
                <a:latin typeface="Calibri"/>
              </a:rPr>
              <a:t>Tratados — após o 24h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096512" y="2039112"/>
            <a:ext cx="1737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A8443C"/>
                </a:solidFill>
                <a:latin typeface="Calibri"/>
              </a:rPr>
              <a:t>55,9%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2286000"/>
            <a:ext cx="5440680" cy="292608"/>
          </a:xfrm>
          <a:prstGeom prst="rect">
            <a:avLst/>
          </a:prstGeom>
          <a:solidFill>
            <a:srgbClr val="FBFAF5"/>
          </a:solidFill>
          <a:ln w="3810">
            <a:solidFill>
              <a:srgbClr val="D8D2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66928" y="2331720"/>
            <a:ext cx="34747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C2C2C"/>
                </a:solidFill>
                <a:latin typeface="Calibri"/>
              </a:rPr>
              <a:t>Controles (comercial)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096512" y="2331720"/>
            <a:ext cx="1737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A8443C"/>
                </a:solidFill>
                <a:latin typeface="Calibri"/>
              </a:rPr>
              <a:t>57,6%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2706624"/>
            <a:ext cx="5440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5C6B82"/>
                </a:solidFill>
                <a:latin typeface="Georgia"/>
              </a:rPr>
              <a:t>~56% fora do horário comercial antes e depois do 24h.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63640" y="1188720"/>
            <a:ext cx="5943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C19A3E"/>
                </a:solidFill>
                <a:latin typeface="Calibri"/>
              </a:rPr>
              <a:t>ROADMAP · PRÓXIMOS PASSOS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63640" y="1426464"/>
            <a:ext cx="2011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19A3E"/>
                </a:solidFill>
                <a:latin typeface="Calibri"/>
              </a:rPr>
              <a:t>—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64807" y="1426464"/>
            <a:ext cx="533095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 i="0">
                <a:solidFill>
                  <a:srgbClr val="16294C"/>
                </a:solidFill>
                <a:latin typeface="Calibri"/>
              </a:rPr>
              <a:t>DR-DiD </a:t>
            </a:r>
            <a:r>
              <a:rPr sz="900" b="0" i="0">
                <a:solidFill>
                  <a:srgbClr val="2C2C2C"/>
                </a:solidFill>
                <a:latin typeface="Calibri"/>
              </a:rPr>
              <a:t>— estimador duplamente robusto.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63640" y="1828800"/>
            <a:ext cx="2011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19A3E"/>
                </a:solidFill>
                <a:latin typeface="Calibri"/>
              </a:rPr>
              <a:t>—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64807" y="1828800"/>
            <a:ext cx="533095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 i="0">
                <a:solidFill>
                  <a:srgbClr val="16294C"/>
                </a:solidFill>
                <a:latin typeface="Calibri"/>
              </a:rPr>
              <a:t>Covariáveis socioeconômicas </a:t>
            </a:r>
            <a:r>
              <a:rPr sz="900" b="0" i="0">
                <a:solidFill>
                  <a:srgbClr val="2C2C2C"/>
                </a:solidFill>
                <a:latin typeface="Calibri"/>
              </a:rPr>
              <a:t>(IDH, renda, urbanização) → tendências paralelas condicionais.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63640" y="2231136"/>
            <a:ext cx="2011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19A3E"/>
                </a:solidFill>
                <a:latin typeface="Calibri"/>
              </a:rPr>
              <a:t>—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64807" y="2231136"/>
            <a:ext cx="533095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 i="0">
                <a:solidFill>
                  <a:srgbClr val="16294C"/>
                </a:solidFill>
                <a:latin typeface="Calibri"/>
              </a:rPr>
              <a:t>Controle de antecipação </a:t>
            </a:r>
            <a:r>
              <a:rPr sz="900" b="0" i="0">
                <a:solidFill>
                  <a:srgbClr val="2C2C2C"/>
                </a:solidFill>
                <a:latin typeface="Calibri"/>
              </a:rPr>
              <a:t>e grupo de não-ainda-tratados.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263640" y="2798064"/>
            <a:ext cx="5532120" cy="960120"/>
          </a:xfrm>
          <a:prstGeom prst="rect">
            <a:avLst/>
          </a:prstGeom>
          <a:solidFill>
            <a:srgbClr val="FBF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263640" y="2798064"/>
            <a:ext cx="38404" cy="960120"/>
          </a:xfrm>
          <a:prstGeom prst="rect">
            <a:avLst/>
          </a:prstGeom>
          <a:solidFill>
            <a:srgbClr val="162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364224" y="2848356"/>
            <a:ext cx="539495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16294C"/>
                </a:solidFill>
                <a:latin typeface="Calibri"/>
              </a:rPr>
              <a:t>MENSAGEM CENTRAL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64224" y="3026664"/>
            <a:ext cx="5394959" cy="704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C2C2C"/>
                </a:solidFill>
                <a:latin typeface="Calibri"/>
              </a:rPr>
              <a:t>Sem ajustar para adoção reativa e tendências prévias, avaliações de plantão 24h tendem a ser pessimistas por construção.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