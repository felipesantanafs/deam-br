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5AAE2EB-9799-4A02-8F7B-D04C7DAC3BC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F88DF35-E170-4EA7-A7ED-E2EF465020D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9CC21A02-1B67-46EE-B84B-9DD76650BD3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0F17909-562D-485F-B67B-8CDD9C310CD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3A082BC5-CEB2-4204-A6BB-DF487B36A32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4BBCEECA-9B7F-4B84-B4D3-4D7069CD217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7C299F22-2BFF-4ACA-B327-0290D8BDA87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7E096D85-F77E-4520-B07B-EF06ABB4BB3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508420D-E616-488F-80EA-E0D6F79262E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84B962-29A2-4AA2-AAFD-759CD7C34515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Google Shape;28;p3"/>
          <p:cNvPicPr/>
          <p:nvPr/>
        </p:nvPicPr>
        <p:blipFill>
          <a:blip r:embed="rId3"/>
          <a:stretch/>
        </p:blipFill>
        <p:spPr>
          <a:xfrm>
            <a:off x="10667880" y="46440"/>
            <a:ext cx="1503360" cy="1753560"/>
          </a:xfrm>
          <a:prstGeom prst="rect">
            <a:avLst/>
          </a:prstGeom>
          <a:ln w="0">
            <a:noFill/>
          </a:ln>
        </p:spPr>
      </p:pic>
      <p:cxnSp>
        <p:nvCxnSpPr>
          <p:cNvPr id="6" name="Google Shape;29;p3"/>
          <p:cNvCxnSpPr/>
          <p:nvPr/>
        </p:nvCxnSpPr>
        <p:spPr>
          <a:xfrm>
            <a:off x="838080" y="1690560"/>
            <a:ext cx="9830160" cy="360"/>
          </a:xfrm>
          <a:prstGeom prst="straightConnector1">
            <a:avLst/>
          </a:prstGeom>
          <a:ln w="38100">
            <a:solidFill>
              <a:srgbClr val="4472C4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pt-BR" sz="60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37485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EF7F77-27FA-441A-A040-A2AD1376D5B0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33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033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F7F65F-53A5-4C38-B550-3C51EAE6E7BE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12495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05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12495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1053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28" name="PlaceHolder 6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29" name="PlaceHolder 7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0" name="PlaceHolder 8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203750-0E51-475F-A7E6-0CCF325EA89D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33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4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B9ADBB-11B3-4B4A-AD05-52915BF5173C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9052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B2B7F7D-7143-4537-AF78-5E2B534CE9DB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47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6BCAA9B-F288-404A-A470-58A348076C99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8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2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45B72EA-EC29-4693-AD02-2286BB3B525B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D19B04-2244-45A9-9326-422B14543C5C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34750" y="0"/>
            <a:ext cx="47625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1525" y="2209800"/>
            <a:ext cx="10058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 spc="160">
                <a:solidFill>
                  <a:srgbClr val="B8964A"/>
                </a:solidFill>
                <a:latin typeface="Times New Roman"/>
              </a:rPr>
              <a:t>AVALIAÇÃO DE IMPACTO CAUSAL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667000"/>
            <a:ext cx="9906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4200" b="1" i="0">
                <a:solidFill>
                  <a:srgbClr val="0A1A2F"/>
                </a:solidFill>
                <a:latin typeface="Times New Roman"/>
              </a:rPr>
              <a:t>Conversão de DEAMs para</a:t>
            </a:r>
          </a:p>
          <a:p>
            <a:pPr>
              <a:lnSpc>
                <a:spcPct val="105000"/>
              </a:lnSpc>
            </a:pPr>
            <a:r>
              <a:rPr sz="4200" b="1" i="0">
                <a:solidFill>
                  <a:srgbClr val="0A1A2F"/>
                </a:solidFill>
                <a:latin typeface="Times New Roman"/>
              </a:rPr>
              <a:t>Plantão 24h no Brasil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525" y="4781550"/>
            <a:ext cx="876300" cy="3810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4972050"/>
            <a:ext cx="10058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0" i="0">
                <a:solidFill>
                  <a:srgbClr val="0A1A2F"/>
                </a:solidFill>
                <a:latin typeface="Times New Roman"/>
              </a:rPr>
              <a:t>Felipe Santana Soares Silva       ·       Rafael Issa de Lima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6457950"/>
            <a:ext cx="103822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 spc="100" dirty="0">
                <a:solidFill>
                  <a:srgbClr val="B8964A"/>
                </a:solidFill>
                <a:latin typeface="Times New Roman"/>
              </a:rPr>
              <a:t>CALLAWAY &amp; SANT'ANNA (2021)  ·  ESTIMAÇÃO DUPLAMENTE ROBUSTA  ·  2009–2019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34750" y="0"/>
            <a:ext cx="47625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2925" y="466725"/>
            <a:ext cx="66675" cy="66675"/>
          </a:xfrm>
          <a:prstGeom prst="ellipse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850" y="40005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80">
                <a:solidFill>
                  <a:srgbClr val="B8964A"/>
                </a:solidFill>
                <a:latin typeface="Times New Roman"/>
              </a:rPr>
              <a:t>PERGUNTA ·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40005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100">
                <a:solidFill>
                  <a:srgbClr val="B8964A"/>
                </a:solidFill>
                <a:latin typeface="Times New Roman"/>
              </a:rPr>
              <a:t>DEAMs 24h  ·  CS DiD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925" y="70485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1047750"/>
            <a:ext cx="47625" cy="80010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952500"/>
            <a:ext cx="104775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0A1A2F"/>
                </a:solidFill>
                <a:latin typeface="Times New Roman"/>
              </a:rPr>
              <a:t>Pergunta de Pesquisa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790700"/>
            <a:ext cx="10572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4A5057"/>
                </a:solidFill>
                <a:latin typeface="Times New Roman"/>
              </a:rPr>
              <a:t>A conversão de DEAMs para plantão 24h afeta acesso e letalidade?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643890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850" y="65151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 spc="110">
                <a:solidFill>
                  <a:srgbClr val="B8964A"/>
                </a:solidFill>
                <a:latin typeface="Times New Roman"/>
              </a:rPr>
              <a:t>AVALIAÇÃO DE IMPACTO CAUSAL  ·  DEAMs 24h NO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0" y="6515100"/>
            <a:ext cx="1238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B8964A"/>
                </a:solidFill>
                <a:latin typeface="Times New Roman"/>
              </a:rPr>
              <a:t>01 / 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381250"/>
            <a:ext cx="1057275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sz="2100" b="1" i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2100" b="0" i="0">
                <a:solidFill>
                  <a:srgbClr val="0A1A2F"/>
                </a:solidFill>
                <a:latin typeface="Times New Roman"/>
              </a:rPr>
              <a:t>O plantão 24h aumenta o acesso institucional (notificações)?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sz="2100" b="1" i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2100" b="0" i="0">
                <a:solidFill>
                  <a:srgbClr val="0A1A2F"/>
                </a:solidFill>
                <a:latin typeface="Times New Roman"/>
              </a:rPr>
              <a:t>O plantão 24h reduz a letalidade (feminicídios)?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sz="2100" b="1" i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2100" b="0" i="0">
                <a:solidFill>
                  <a:srgbClr val="0A1A2F"/>
                </a:solidFill>
                <a:latin typeface="Times New Roman"/>
              </a:rPr>
              <a:t>Adoção escalonada e descentralizada (decisões municipais/estaduais)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525" y="4476750"/>
            <a:ext cx="10572750" cy="1428750"/>
          </a:xfrm>
          <a:prstGeom prst="roundRect">
            <a:avLst/>
          </a:prstGeom>
          <a:solidFill>
            <a:srgbClr val="F3EEDF"/>
          </a:solidFill>
          <a:ln w="15875">
            <a:solidFill>
              <a:srgbClr val="B89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Aft>
                <a:spcPts val="400"/>
              </a:spcAft>
            </a:pPr>
            <a:r>
              <a:rPr sz="1400" b="1" i="0" spc="120">
                <a:solidFill>
                  <a:srgbClr val="B8964A"/>
                </a:solidFill>
                <a:latin typeface="Times New Roman"/>
              </a:rPr>
              <a:t>Cadeia causal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0A1A2F"/>
                </a:solidFill>
                <a:latin typeface="Times New Roman"/>
              </a:rPr>
              <a:t>DEAM 24h   →   ↑ Acesso   →   Proteção ativa   →   ↓ Feminicídios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34750" y="0"/>
            <a:ext cx="47625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2925" y="466725"/>
            <a:ext cx="66675" cy="66675"/>
          </a:xfrm>
          <a:prstGeom prst="ellipse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850" y="40005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80">
                <a:solidFill>
                  <a:srgbClr val="B8964A"/>
                </a:solidFill>
                <a:latin typeface="Times New Roman"/>
              </a:rPr>
              <a:t>DADOS ·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40005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100">
                <a:solidFill>
                  <a:srgbClr val="B8964A"/>
                </a:solidFill>
                <a:latin typeface="Times New Roman"/>
              </a:rPr>
              <a:t>DEAMs 24h  ·  CS DiD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925" y="70485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1047750"/>
            <a:ext cx="47625" cy="80010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952500"/>
            <a:ext cx="104775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0A1A2F"/>
                </a:solidFill>
                <a:latin typeface="Times New Roman"/>
              </a:rPr>
              <a:t>Dados e Fontes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790700"/>
            <a:ext cx="10572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4A5057"/>
                </a:solidFill>
                <a:latin typeface="Times New Roman"/>
              </a:rPr>
              <a:t>Painel balanceado: 285 municípios, 2009–2019 (3.135 observações)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643890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850" y="65151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 spc="110">
                <a:solidFill>
                  <a:srgbClr val="B8964A"/>
                </a:solidFill>
                <a:latin typeface="Times New Roman"/>
              </a:rPr>
              <a:t>AVALIAÇÃO DE IMPACTO CAUSAL  ·  DEAMs 24h NO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0" y="6515100"/>
            <a:ext cx="1238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B8964A"/>
                </a:solidFill>
                <a:latin typeface="Times New Roman"/>
              </a:rPr>
              <a:t>02 / 08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97706"/>
              </p:ext>
            </p:extLst>
          </p:nvPr>
        </p:nvGraphicFramePr>
        <p:xfrm>
          <a:off x="542925" y="2333625"/>
          <a:ext cx="10791825" cy="381000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Fonte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O que foi extraído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Papel no estudo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SIM / DataSUS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Óbitos femininos por agressão (CID X85–Y09; sexo = 2)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i="0" dirty="0">
                          <a:solidFill>
                            <a:srgbClr val="0A1A2F"/>
                          </a:solidFill>
                          <a:latin typeface="Times New Roman"/>
                        </a:rPr>
                        <a:t>F</a:t>
                      </a:r>
                      <a:r>
                        <a:rPr sz="1400" b="0" i="0" dirty="0" err="1">
                          <a:solidFill>
                            <a:srgbClr val="0A1A2F"/>
                          </a:solidFill>
                          <a:latin typeface="Times New Roman"/>
                        </a:rPr>
                        <a:t>eminicídios</a:t>
                      </a:r>
                      <a:r>
                        <a:rPr sz="1400" b="0" i="0" dirty="0">
                          <a:solidFill>
                            <a:srgbClr val="0A1A2F"/>
                          </a:solidFill>
                          <a:latin typeface="Times New Roman"/>
                        </a:rPr>
                        <a:t> /100k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SIM / DataSUS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Homicídios masculinos (sexo = 1)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 err="1">
                          <a:solidFill>
                            <a:srgbClr val="0A1A2F"/>
                          </a:solidFill>
                          <a:latin typeface="Times New Roman"/>
                        </a:rPr>
                        <a:t>Covariável</a:t>
                      </a:r>
                      <a:r>
                        <a:rPr sz="1400" b="0" i="0" dirty="0">
                          <a:solidFill>
                            <a:srgbClr val="0A1A2F"/>
                          </a:solidFill>
                          <a:latin typeface="Times New Roman"/>
                        </a:rPr>
                        <a:t> de </a:t>
                      </a:r>
                      <a:r>
                        <a:rPr sz="1400" b="0" i="0" dirty="0" err="1">
                          <a:solidFill>
                            <a:srgbClr val="0A1A2F"/>
                          </a:solidFill>
                          <a:latin typeface="Times New Roman"/>
                        </a:rPr>
                        <a:t>violência</a:t>
                      </a:r>
                      <a:endParaRPr sz="1400" b="0" i="0" dirty="0">
                        <a:solidFill>
                          <a:srgbClr val="0A1A2F"/>
                        </a:solidFill>
                        <a:latin typeface="Times New Roman"/>
                      </a:endParaRP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SINAN / DataSUS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Notificações de violência (sexo_paciente = 0); hora do fato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i="0" dirty="0">
                          <a:solidFill>
                            <a:srgbClr val="0A1A2F"/>
                          </a:solidFill>
                          <a:latin typeface="Times New Roman"/>
                        </a:rPr>
                        <a:t>N</a:t>
                      </a:r>
                      <a:r>
                        <a:rPr sz="1400" b="0" i="0" dirty="0" err="1">
                          <a:solidFill>
                            <a:srgbClr val="0A1A2F"/>
                          </a:solidFill>
                          <a:latin typeface="Times New Roman"/>
                        </a:rPr>
                        <a:t>otificações</a:t>
                      </a:r>
                      <a:r>
                        <a:rPr sz="1400" b="0" i="0" dirty="0">
                          <a:solidFill>
                            <a:srgbClr val="0A1A2F"/>
                          </a:solidFill>
                          <a:latin typeface="Times New Roman"/>
                        </a:rPr>
                        <a:t> /100k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SIDRA/IBGE 6579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População municipal anual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Taxas /100k e log da população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SIDRA/IBGE 5938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PIB municipal (variável 37)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log do PIB per capita (covariável)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AzMina + manual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A1A2F"/>
                          </a:solidFill>
                          <a:latin typeface="Times New Roman"/>
                        </a:rPr>
                        <a:t>Status 24h e ano de transição das DEAMs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 err="1">
                          <a:solidFill>
                            <a:srgbClr val="0A1A2F"/>
                          </a:solidFill>
                          <a:latin typeface="Times New Roman"/>
                        </a:rPr>
                        <a:t>Tratamento</a:t>
                      </a:r>
                      <a:r>
                        <a:rPr sz="1400" b="0" i="0" dirty="0">
                          <a:solidFill>
                            <a:srgbClr val="0A1A2F"/>
                          </a:solidFill>
                          <a:latin typeface="Times New Roman"/>
                        </a:rPr>
                        <a:t> e </a:t>
                      </a:r>
                      <a:r>
                        <a:rPr sz="1400" b="0" i="0" dirty="0" err="1">
                          <a:solidFill>
                            <a:srgbClr val="0A1A2F"/>
                          </a:solidFill>
                          <a:latin typeface="Times New Roman"/>
                        </a:rPr>
                        <a:t>definição</a:t>
                      </a:r>
                      <a:r>
                        <a:rPr sz="1400" b="0" i="0" dirty="0">
                          <a:solidFill>
                            <a:srgbClr val="0A1A2F"/>
                          </a:solidFill>
                          <a:latin typeface="Times New Roman"/>
                        </a:rPr>
                        <a:t> das </a:t>
                      </a:r>
                      <a:r>
                        <a:rPr sz="1400" b="0" i="0" dirty="0" err="1">
                          <a:solidFill>
                            <a:srgbClr val="0A1A2F"/>
                          </a:solidFill>
                          <a:latin typeface="Times New Roman"/>
                        </a:rPr>
                        <a:t>coortes</a:t>
                      </a:r>
                      <a:endParaRPr sz="1400" b="0" i="0" dirty="0">
                        <a:solidFill>
                          <a:srgbClr val="0A1A2F"/>
                        </a:solidFill>
                        <a:latin typeface="Times New Roman"/>
                      </a:endParaRP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34750" y="0"/>
            <a:ext cx="47625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2925" y="466725"/>
            <a:ext cx="66675" cy="66675"/>
          </a:xfrm>
          <a:prstGeom prst="ellipse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850" y="40005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80">
                <a:solidFill>
                  <a:srgbClr val="B8964A"/>
                </a:solidFill>
                <a:latin typeface="Times New Roman"/>
              </a:rPr>
              <a:t>DADOS ·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40005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100">
                <a:solidFill>
                  <a:srgbClr val="B8964A"/>
                </a:solidFill>
                <a:latin typeface="Times New Roman"/>
              </a:rPr>
              <a:t>DEAMs 24h  ·  CS DiD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925" y="70485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1047750"/>
            <a:ext cx="47625" cy="80010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952500"/>
            <a:ext cx="104775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0A1A2F"/>
                </a:solidFill>
                <a:latin typeface="Times New Roman"/>
              </a:rPr>
              <a:t>Estatísticas: Tratados vs. Controle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790700"/>
            <a:ext cx="10572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4A5057"/>
                </a:solidFill>
                <a:latin typeface="Times New Roman"/>
              </a:rPr>
              <a:t>Tratados são ~3,4× maiores e já partem de mais violência (adoção reativa)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643890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850" y="65151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 spc="110">
                <a:solidFill>
                  <a:srgbClr val="B8964A"/>
                </a:solidFill>
                <a:latin typeface="Times New Roman"/>
              </a:rPr>
              <a:t>AVALIAÇÃO DE IMPACTO CAUSAL  ·  DEAMs 24h NO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0" y="6515100"/>
            <a:ext cx="1238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B8964A"/>
                </a:solidFill>
                <a:latin typeface="Times New Roman"/>
              </a:rPr>
              <a:t>03 / 08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2925" y="2362200"/>
          <a:ext cx="5334000" cy="33337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719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Variável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Tratado (24h)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Controle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719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N municípios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38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247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719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N observações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418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2.717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719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População média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608.975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236.689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719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Taxa notificações /100k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59,74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79,28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719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Taxa feminicídios /100k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2,952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2,652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719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Notificações (abs.)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448,6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182,3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719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Feminicídios (abs.)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20,0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5,8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2925" y="5772150"/>
            <a:ext cx="5334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4A5057"/>
                </a:solidFill>
                <a:latin typeface="Times New Roman"/>
              </a:rPr>
              <a:t>Estatísticas descritivas (médias, 2009–2019).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143625" y="2362200"/>
          <a:ext cx="5191125" cy="20478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Covariável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Tratado (24h)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Controle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Taxa homicídios masc. /100k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36,96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26,82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PIB per capita (R$)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24.630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26.879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População (média)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608.975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236.689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Δ homic. masc. (bienal)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-0,07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-0,78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143625" y="4476750"/>
            <a:ext cx="5191125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200" b="1" i="1">
                <a:solidFill>
                  <a:srgbClr val="0A1A2F"/>
                </a:solidFill>
                <a:latin typeface="Times New Roman"/>
              </a:rPr>
              <a:t>Balanço das covariáveis. </a:t>
            </a:r>
            <a:r>
              <a:rPr sz="1200" b="0" i="1">
                <a:solidFill>
                  <a:srgbClr val="4A5057"/>
                </a:solidFill>
                <a:latin typeface="Times New Roman"/>
              </a:rPr>
              <a:t>Homicídios masculinos ~38% maiores nos tratados: assinatura da adoção reativa que motiva o controle por violência.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34750" y="0"/>
            <a:ext cx="47625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2925" y="466725"/>
            <a:ext cx="66675" cy="66675"/>
          </a:xfrm>
          <a:prstGeom prst="ellipse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850" y="40005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80">
                <a:solidFill>
                  <a:srgbClr val="B8964A"/>
                </a:solidFill>
                <a:latin typeface="Times New Roman"/>
              </a:rPr>
              <a:t>MÉTODO ·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40005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100">
                <a:solidFill>
                  <a:srgbClr val="B8964A"/>
                </a:solidFill>
                <a:latin typeface="Times New Roman"/>
              </a:rPr>
              <a:t>DEAMs 24h  ·  CS DiD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925" y="70485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1047750"/>
            <a:ext cx="47625" cy="80010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952500"/>
            <a:ext cx="104775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0A1A2F"/>
                </a:solidFill>
                <a:latin typeface="Times New Roman"/>
              </a:rPr>
              <a:t>Metodologia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790700"/>
            <a:ext cx="10572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4A5057"/>
                </a:solidFill>
                <a:latin typeface="Times New Roman"/>
              </a:rPr>
              <a:t>Callaway &amp; Sant'Anna (2021) com especificação Duplamente Robusta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643890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850" y="65151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 spc="110">
                <a:solidFill>
                  <a:srgbClr val="B8964A"/>
                </a:solidFill>
                <a:latin typeface="Times New Roman"/>
              </a:rPr>
              <a:t>AVALIAÇÃO DE IMPACTO CAUSAL  ·  DEAMs 24h NO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0" y="6515100"/>
            <a:ext cx="1238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B8964A"/>
                </a:solidFill>
                <a:latin typeface="Times New Roman"/>
              </a:rPr>
              <a:t>04 / 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2286000"/>
            <a:ext cx="5457825" cy="1962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50" b="1" i="0" dirty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1550" b="0" i="0" dirty="0">
                <a:solidFill>
                  <a:srgbClr val="0A1A2F"/>
                </a:solidFill>
                <a:latin typeface="Times New Roman"/>
              </a:rPr>
              <a:t>TWFE é </a:t>
            </a:r>
            <a:r>
              <a:rPr sz="1550" b="0" i="0" dirty="0" err="1">
                <a:solidFill>
                  <a:srgbClr val="0A1A2F"/>
                </a:solidFill>
                <a:latin typeface="Times New Roman"/>
              </a:rPr>
              <a:t>viesado</a:t>
            </a:r>
            <a:r>
              <a:rPr sz="1550" b="0" i="0" dirty="0">
                <a:solidFill>
                  <a:srgbClr val="0A1A2F"/>
                </a:solidFill>
                <a:latin typeface="Times New Roman"/>
              </a:rPr>
              <a:t> sob </a:t>
            </a:r>
            <a:r>
              <a:rPr sz="1550" b="0" i="0" dirty="0" err="1">
                <a:solidFill>
                  <a:srgbClr val="0A1A2F"/>
                </a:solidFill>
                <a:latin typeface="Times New Roman"/>
              </a:rPr>
              <a:t>adoção</a:t>
            </a:r>
            <a:r>
              <a:rPr sz="15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550" b="0" i="0" dirty="0" err="1">
                <a:solidFill>
                  <a:srgbClr val="0A1A2F"/>
                </a:solidFill>
                <a:latin typeface="Times New Roman"/>
              </a:rPr>
              <a:t>escalonada</a:t>
            </a:r>
            <a:r>
              <a:rPr sz="1550" b="0" i="0" dirty="0">
                <a:solidFill>
                  <a:srgbClr val="0A1A2F"/>
                </a:solidFill>
                <a:latin typeface="Times New Roman"/>
              </a:rPr>
              <a:t> </a:t>
            </a:r>
            <a:endParaRPr lang="pt-BR" sz="1550" b="0" i="0" dirty="0">
              <a:solidFill>
                <a:srgbClr val="0A1A2F"/>
              </a:solidFill>
              <a:latin typeface="Times New Roman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50" b="1" i="0" dirty="0">
                <a:solidFill>
                  <a:srgbClr val="B8964A"/>
                </a:solidFill>
                <a:latin typeface="Times New Roman"/>
              </a:rPr>
              <a:t>•  </a:t>
            </a:r>
            <a:r>
              <a:rPr lang="pt-BR" sz="1550" b="0" i="0" dirty="0">
                <a:solidFill>
                  <a:srgbClr val="0A1A2F"/>
                </a:solidFill>
                <a:latin typeface="Times New Roman"/>
              </a:rPr>
              <a:t>Estimador de </a:t>
            </a:r>
            <a:r>
              <a:rPr lang="pt-BR" sz="1550" b="0" i="0" dirty="0" err="1">
                <a:solidFill>
                  <a:srgbClr val="0A1A2F"/>
                </a:solidFill>
                <a:latin typeface="Times New Roman"/>
              </a:rPr>
              <a:t>Callaway</a:t>
            </a:r>
            <a:r>
              <a:rPr lang="pt-BR" sz="1550" b="0" i="0" dirty="0">
                <a:solidFill>
                  <a:srgbClr val="0A1A2F"/>
                </a:solidFill>
                <a:latin typeface="Times New Roman"/>
              </a:rPr>
              <a:t> &amp; Sant’anna</a:t>
            </a:r>
            <a:endParaRPr sz="1550" b="0" i="0" dirty="0">
              <a:solidFill>
                <a:srgbClr val="0A1A2F"/>
              </a:solidFill>
              <a:latin typeface="Times New Roman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50" b="1" i="0" dirty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1550" b="1" i="0" dirty="0">
                <a:solidFill>
                  <a:srgbClr val="0A1A2F"/>
                </a:solidFill>
                <a:latin typeface="Times New Roman"/>
              </a:rPr>
              <a:t>Base </a:t>
            </a:r>
            <a:r>
              <a:rPr sz="1550" b="1" i="0" dirty="0" err="1">
                <a:solidFill>
                  <a:srgbClr val="0A1A2F"/>
                </a:solidFill>
                <a:latin typeface="Times New Roman"/>
              </a:rPr>
              <a:t>sem</a:t>
            </a:r>
            <a:r>
              <a:rPr sz="1550" b="1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550" b="1" i="0" dirty="0" err="1">
                <a:solidFill>
                  <a:srgbClr val="0A1A2F"/>
                </a:solidFill>
                <a:latin typeface="Times New Roman"/>
              </a:rPr>
              <a:t>covariáveis</a:t>
            </a:r>
            <a:r>
              <a:rPr sz="1550" b="1" i="0" dirty="0">
                <a:solidFill>
                  <a:srgbClr val="0A1A2F"/>
                </a:solidFill>
                <a:latin typeface="Times New Roman"/>
              </a:rPr>
              <a:t> viola </a:t>
            </a:r>
            <a:r>
              <a:rPr sz="1550" b="1" i="0" dirty="0" err="1">
                <a:solidFill>
                  <a:srgbClr val="0A1A2F"/>
                </a:solidFill>
                <a:latin typeface="Times New Roman"/>
              </a:rPr>
              <a:t>tendências</a:t>
            </a:r>
            <a:r>
              <a:rPr sz="1550" b="1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550" b="1" i="0" dirty="0" err="1">
                <a:solidFill>
                  <a:srgbClr val="0A1A2F"/>
                </a:solidFill>
                <a:latin typeface="Times New Roman"/>
              </a:rPr>
              <a:t>paralelas</a:t>
            </a:r>
            <a:r>
              <a:rPr sz="1550" b="1" i="0" dirty="0">
                <a:solidFill>
                  <a:srgbClr val="0A1A2F"/>
                </a:solidFill>
                <a:latin typeface="Times New Roman"/>
              </a:rPr>
              <a:t> (p = 0,004)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1550" b="1" i="0" dirty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1550" b="0" i="0" dirty="0" err="1">
                <a:solidFill>
                  <a:srgbClr val="0A1A2F"/>
                </a:solidFill>
                <a:latin typeface="Times New Roman"/>
              </a:rPr>
              <a:t>Duplamente</a:t>
            </a:r>
            <a:r>
              <a:rPr sz="1550" b="0" i="0" dirty="0">
                <a:solidFill>
                  <a:srgbClr val="0A1A2F"/>
                </a:solidFill>
                <a:latin typeface="Times New Roman"/>
              </a:rPr>
              <a:t> Robusta (DR)</a:t>
            </a:r>
            <a:r>
              <a:rPr lang="en-US" sz="1550" dirty="0">
                <a:solidFill>
                  <a:srgbClr val="0A1A2F"/>
                </a:solidFill>
                <a:latin typeface="Times New Roman"/>
              </a:rPr>
              <a:t> -</a:t>
            </a:r>
            <a:r>
              <a:rPr sz="15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lang="pt-BR" sz="1550" dirty="0">
                <a:solidFill>
                  <a:srgbClr val="0A1A2F"/>
                </a:solidFill>
                <a:latin typeface="Times New Roman"/>
              </a:rPr>
              <a:t>3</a:t>
            </a:r>
            <a:r>
              <a:rPr sz="15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550" b="0" i="0" dirty="0" err="1">
                <a:solidFill>
                  <a:srgbClr val="0A1A2F"/>
                </a:solidFill>
                <a:latin typeface="Times New Roman"/>
              </a:rPr>
              <a:t>covariáveis</a:t>
            </a:r>
            <a:endParaRPr lang="en-US" sz="1550" b="0" i="0" dirty="0">
              <a:solidFill>
                <a:srgbClr val="0A1A2F"/>
              </a:solidFill>
              <a:latin typeface="Times New Roman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550" b="1" i="0" dirty="0">
                <a:solidFill>
                  <a:srgbClr val="B8964A"/>
                </a:solidFill>
                <a:latin typeface="Times New Roman"/>
              </a:rPr>
              <a:t>•  </a:t>
            </a:r>
            <a:r>
              <a:rPr lang="en-US" sz="1550" i="0" dirty="0">
                <a:latin typeface="Times New Roman"/>
              </a:rPr>
              <a:t>Log (</a:t>
            </a:r>
            <a:r>
              <a:rPr lang="en-US" sz="1550" i="0" dirty="0" err="1">
                <a:latin typeface="Times New Roman"/>
              </a:rPr>
              <a:t>População</a:t>
            </a:r>
            <a:r>
              <a:rPr lang="en-US" sz="1550" i="0" dirty="0">
                <a:latin typeface="Times New Roman"/>
              </a:rPr>
              <a:t>) - Log (</a:t>
            </a:r>
            <a:r>
              <a:rPr lang="en-US" sz="1550" i="0" dirty="0" err="1">
                <a:latin typeface="Times New Roman"/>
              </a:rPr>
              <a:t>Pib</a:t>
            </a:r>
            <a:r>
              <a:rPr lang="en-US" sz="1550" i="0" dirty="0">
                <a:latin typeface="Times New Roman"/>
              </a:rPr>
              <a:t> per Capita) -  </a:t>
            </a:r>
            <a:r>
              <a:rPr lang="en-US" sz="1550" i="0" dirty="0" err="1">
                <a:latin typeface="Times New Roman"/>
              </a:rPr>
              <a:t>Homicídios</a:t>
            </a:r>
            <a:r>
              <a:rPr lang="en-US" sz="1550" i="0" dirty="0">
                <a:latin typeface="Times New Roman"/>
              </a:rPr>
              <a:t> </a:t>
            </a:r>
            <a:r>
              <a:rPr lang="en-US" sz="1550" i="0" dirty="0" err="1">
                <a:latin typeface="Times New Roman"/>
              </a:rPr>
              <a:t>masculinos</a:t>
            </a:r>
            <a:r>
              <a:rPr lang="en-US" sz="1550" i="0" dirty="0">
                <a:latin typeface="Times New Roman"/>
              </a:rPr>
              <a:t> </a:t>
            </a:r>
            <a:r>
              <a:rPr lang="en-US" sz="1550" i="0" dirty="0" err="1">
                <a:latin typeface="Times New Roman"/>
              </a:rPr>
              <a:t>por</a:t>
            </a:r>
            <a:r>
              <a:rPr lang="en-US" sz="1550" i="0" dirty="0">
                <a:latin typeface="Times New Roman"/>
              </a:rPr>
              <a:t> 100 mil </a:t>
            </a:r>
            <a:r>
              <a:rPr lang="en-US" sz="1550" i="0" dirty="0" err="1">
                <a:latin typeface="Times New Roman"/>
              </a:rPr>
              <a:t>habitantes</a:t>
            </a:r>
            <a:endParaRPr sz="1550" i="0" dirty="0">
              <a:latin typeface="Times New Roma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2925" y="4591050"/>
            <a:ext cx="5191125" cy="1504950"/>
          </a:xfrm>
          <a:prstGeom prst="roundRect">
            <a:avLst/>
          </a:prstGeom>
          <a:solidFill>
            <a:srgbClr val="F3EEDF"/>
          </a:solidFill>
          <a:ln w="12700">
            <a:solidFill>
              <a:srgbClr val="B89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2925" y="4591050"/>
            <a:ext cx="57150" cy="150495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2000" y="4705350"/>
            <a:ext cx="476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20" dirty="0">
                <a:solidFill>
                  <a:srgbClr val="B8964A"/>
                </a:solidFill>
                <a:latin typeface="Times New Roman"/>
              </a:rPr>
              <a:t>ESTIMADOR — CALLAWAY &amp; SANT'ANNA</a:t>
            </a:r>
          </a:p>
        </p:txBody>
      </p:sp>
      <p:pic>
        <p:nvPicPr>
          <p:cNvPr id="18" name="Picture 17" descr="f_att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008561"/>
            <a:ext cx="4476750" cy="384179"/>
          </a:xfrm>
          <a:prstGeom prst="rect">
            <a:avLst/>
          </a:prstGeom>
        </p:spPr>
      </p:pic>
      <p:pic>
        <p:nvPicPr>
          <p:cNvPr id="19" name="Picture 18" descr="f_aggr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094" y="5505450"/>
            <a:ext cx="2348563" cy="4953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96000" y="2286000"/>
            <a:ext cx="57150" cy="20955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8400" y="2286000"/>
            <a:ext cx="5143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0A1A2F"/>
                </a:solidFill>
                <a:latin typeface="Times New Roman"/>
              </a:rPr>
              <a:t>DEAMs convertidas para 24h, por ano de adoção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2628900"/>
            <a:ext cx="628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0A1A2F"/>
                </a:solidFill>
                <a:latin typeface="Times New Roman"/>
              </a:rPr>
              <a:t>2009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81800" y="2667000"/>
            <a:ext cx="3543300" cy="171450"/>
          </a:xfrm>
          <a:prstGeom prst="roundRect">
            <a:avLst/>
          </a:prstGeom>
          <a:solidFill>
            <a:srgbClr val="E7E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81800" y="2667000"/>
            <a:ext cx="295275" cy="171450"/>
          </a:xfrm>
          <a:prstGeom prst="round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01300" y="26289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A1A2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0" y="2971800"/>
            <a:ext cx="628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0A1A2F"/>
                </a:solidFill>
                <a:latin typeface="Times New Roman"/>
              </a:rPr>
              <a:t>2011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81800" y="3009900"/>
            <a:ext cx="3543300" cy="171450"/>
          </a:xfrm>
          <a:prstGeom prst="roundRect">
            <a:avLst/>
          </a:prstGeom>
          <a:solidFill>
            <a:srgbClr val="E7E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781800" y="3009900"/>
            <a:ext cx="590550" cy="171450"/>
          </a:xfrm>
          <a:prstGeom prst="round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01300" y="29718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A1A2F"/>
                </a:solidFill>
                <a:latin typeface="Times New Roman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0" y="3314700"/>
            <a:ext cx="628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0A1A2F"/>
                </a:solidFill>
                <a:latin typeface="Times New Roman"/>
              </a:rPr>
              <a:t>2012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81800" y="3352800"/>
            <a:ext cx="3543300" cy="171450"/>
          </a:xfrm>
          <a:prstGeom prst="roundRect">
            <a:avLst/>
          </a:prstGeom>
          <a:solidFill>
            <a:srgbClr val="E7E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781800" y="3352800"/>
            <a:ext cx="1181100" cy="171450"/>
          </a:xfrm>
          <a:prstGeom prst="round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01300" y="33147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A1A2F"/>
                </a:solidFill>
                <a:latin typeface="Times New Roman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0" y="3657600"/>
            <a:ext cx="628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0A1A2F"/>
                </a:solidFill>
                <a:latin typeface="Times New Roman"/>
              </a:rPr>
              <a:t>2013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81800" y="3695700"/>
            <a:ext cx="3543300" cy="171450"/>
          </a:xfrm>
          <a:prstGeom prst="roundRect">
            <a:avLst/>
          </a:prstGeom>
          <a:solidFill>
            <a:srgbClr val="E7E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781800" y="3695700"/>
            <a:ext cx="590550" cy="171450"/>
          </a:xfrm>
          <a:prstGeom prst="round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01300" y="36576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A1A2F"/>
                </a:solidFill>
                <a:latin typeface="Times New Roman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0" y="4000500"/>
            <a:ext cx="628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0A1A2F"/>
                </a:solidFill>
                <a:latin typeface="Times New Roman"/>
              </a:rPr>
              <a:t>2014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81800" y="4038600"/>
            <a:ext cx="3543300" cy="171450"/>
          </a:xfrm>
          <a:prstGeom prst="roundRect">
            <a:avLst/>
          </a:prstGeom>
          <a:solidFill>
            <a:srgbClr val="E7E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781800" y="4038600"/>
            <a:ext cx="3543300" cy="171450"/>
          </a:xfrm>
          <a:prstGeom prst="round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01300" y="40005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A1A2F"/>
                </a:solidFill>
                <a:latin typeface="Times New Roman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0" y="4343400"/>
            <a:ext cx="628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0A1A2F"/>
                </a:solidFill>
                <a:latin typeface="Times New Roman"/>
              </a:rPr>
              <a:t>2015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81800" y="4381500"/>
            <a:ext cx="3543300" cy="171450"/>
          </a:xfrm>
          <a:prstGeom prst="roundRect">
            <a:avLst/>
          </a:prstGeom>
          <a:solidFill>
            <a:srgbClr val="E7E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781800" y="4381500"/>
            <a:ext cx="885825" cy="171450"/>
          </a:xfrm>
          <a:prstGeom prst="round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401300" y="43434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A1A2F"/>
                </a:solidFill>
                <a:latin typeface="Times New Roman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0" y="4686300"/>
            <a:ext cx="628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0A1A2F"/>
                </a:solidFill>
                <a:latin typeface="Times New Roman"/>
              </a:rPr>
              <a:t>2016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81800" y="4724400"/>
            <a:ext cx="3543300" cy="171450"/>
          </a:xfrm>
          <a:prstGeom prst="roundRect">
            <a:avLst/>
          </a:prstGeom>
          <a:solidFill>
            <a:srgbClr val="E7E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781800" y="4724400"/>
            <a:ext cx="885825" cy="171450"/>
          </a:xfrm>
          <a:prstGeom prst="round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401300" y="46863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A1A2F"/>
                </a:solidFill>
                <a:latin typeface="Times New Roman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0" y="5029200"/>
            <a:ext cx="628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0A1A2F"/>
                </a:solidFill>
                <a:latin typeface="Times New Roman"/>
              </a:rPr>
              <a:t>2017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81800" y="5067300"/>
            <a:ext cx="3543300" cy="171450"/>
          </a:xfrm>
          <a:prstGeom prst="roundRect">
            <a:avLst/>
          </a:prstGeom>
          <a:solidFill>
            <a:srgbClr val="E7E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781800" y="5067300"/>
            <a:ext cx="590550" cy="171450"/>
          </a:xfrm>
          <a:prstGeom prst="round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401300" y="50292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A1A2F"/>
                </a:solidFill>
                <a:latin typeface="Times New Roman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0" y="5372100"/>
            <a:ext cx="628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0A1A2F"/>
                </a:solidFill>
                <a:latin typeface="Times New Roman"/>
              </a:rPr>
              <a:t>2018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81800" y="5410200"/>
            <a:ext cx="3543300" cy="171450"/>
          </a:xfrm>
          <a:prstGeom prst="roundRect">
            <a:avLst/>
          </a:prstGeom>
          <a:solidFill>
            <a:srgbClr val="E7E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781800" y="5410200"/>
            <a:ext cx="1181100" cy="171450"/>
          </a:xfrm>
          <a:prstGeom prst="round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401300" y="53721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A1A2F"/>
                </a:solidFill>
                <a:latin typeface="Times New Roman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0" y="5715000"/>
            <a:ext cx="62865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0A1A2F"/>
                </a:solidFill>
                <a:latin typeface="Times New Roman"/>
              </a:rPr>
              <a:t>2019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81800" y="5753100"/>
            <a:ext cx="3543300" cy="171450"/>
          </a:xfrm>
          <a:prstGeom prst="roundRect">
            <a:avLst/>
          </a:prstGeom>
          <a:solidFill>
            <a:srgbClr val="E7E0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781800" y="5753100"/>
            <a:ext cx="1476375" cy="171450"/>
          </a:xfrm>
          <a:prstGeom prst="round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401300" y="5715000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0A1A2F"/>
                </a:solidFill>
                <a:latin typeface="Times New Roman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6000" y="6115050"/>
            <a:ext cx="5143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4A5057"/>
                </a:solidFill>
                <a:latin typeface="Times New Roman"/>
              </a:rPr>
              <a:t>Total: 38 municípios tratados · 10 coortes (2009–2019).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34750" y="0"/>
            <a:ext cx="47625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2925" y="466725"/>
            <a:ext cx="66675" cy="66675"/>
          </a:xfrm>
          <a:prstGeom prst="ellipse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850" y="40005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80">
                <a:solidFill>
                  <a:srgbClr val="B8964A"/>
                </a:solidFill>
                <a:latin typeface="Times New Roman"/>
              </a:rPr>
              <a:t>RESULTADOS ·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40005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100">
                <a:solidFill>
                  <a:srgbClr val="B8964A"/>
                </a:solidFill>
                <a:latin typeface="Times New Roman"/>
              </a:rPr>
              <a:t>DEAMs 24h  ·  CS DiD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925" y="70485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1047750"/>
            <a:ext cx="47625" cy="80010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952500"/>
            <a:ext cx="104775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0A1A2F"/>
                </a:solidFill>
                <a:latin typeface="Times New Roman"/>
              </a:rPr>
              <a:t>Resultados — ATT e Pré-tendências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790700"/>
            <a:ext cx="10572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4A5057"/>
                </a:solidFill>
                <a:latin typeface="Times New Roman"/>
              </a:rPr>
              <a:t>DR restaura tendências paralelas e dissolve o efeito sobre feminicídios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643890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850" y="65151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 spc="110">
                <a:solidFill>
                  <a:srgbClr val="B8964A"/>
                </a:solidFill>
                <a:latin typeface="Times New Roman"/>
              </a:rPr>
              <a:t>AVALIAÇÃO DE IMPACTO CAUSAL  ·  DEAMs 24h NO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0" y="6515100"/>
            <a:ext cx="1238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B8964A"/>
                </a:solidFill>
                <a:latin typeface="Times New Roman"/>
              </a:rPr>
              <a:t>05 / 08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2925" y="2381250"/>
          <a:ext cx="5715000" cy="20478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05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Desfecho · Espec.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ATT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IC 95%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p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Notif. — Base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-20,51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[-35,3; -6,6]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0,001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Notif. — DR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-18,04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[-31,8; -4,7]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0,008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Femin. — Base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+0,44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[-0,05; +0,91]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0,082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Femin. — DR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+0,48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[-0,03; +0,99]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0,064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2925" y="44767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4A5057"/>
                </a:solidFill>
                <a:latin typeface="Times New Roman"/>
              </a:rPr>
              <a:t>ATT global — base (reg) vs. duplamente robusta (dr).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77000" y="2381250"/>
          <a:ext cx="4857750" cy="20478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13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3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Desfecho · Espec.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W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p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Times New Roman"/>
                        </a:rPr>
                        <a:t>Veredicto</a:t>
                      </a:r>
                    </a:p>
                  </a:txBody>
                  <a:tcPr marL="76200" marR="76200" marT="19050" marB="19050" anchor="ctr">
                    <a:solidFill>
                      <a:srgbClr val="0A1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Notif. — Base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24,14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0,004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Violação</a:t>
                      </a:r>
                    </a:p>
                  </a:txBody>
                  <a:tcPr marL="76200" marR="76200" marT="19050" marB="19050" anchor="ctr"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Notif. — DR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12,98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0,164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OK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Femin. — Base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12,95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0,165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0A1A2F"/>
                          </a:solidFill>
                          <a:latin typeface="Times New Roman"/>
                        </a:rPr>
                        <a:t>OK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l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Femin. — DR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12,12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0,207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0A1A2F"/>
                          </a:solidFill>
                          <a:latin typeface="Times New Roman"/>
                        </a:rPr>
                        <a:t>OK</a:t>
                      </a:r>
                    </a:p>
                  </a:txBody>
                  <a:tcPr marL="76200" marR="76200" marT="19050" marB="19050" anchor="ctr">
                    <a:lnT w="6350" cap="flat" cmpd="sng" algn="ctr">
                      <a:solidFill>
                        <a:srgbClr val="D8CE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>
                      <a:solidFill>
                        <a:srgbClr val="D8CEB4"/>
                      </a:solidFill>
                    </a:lnB>
                    <a:solidFill>
                      <a:srgbClr val="F4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77000" y="4476750"/>
            <a:ext cx="4857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4A5057"/>
                </a:solidFill>
                <a:latin typeface="Times New Roman"/>
              </a:rPr>
              <a:t>Teste de Wald diagonal das pré-tendências (k = 9).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2925" y="4953000"/>
            <a:ext cx="10791825" cy="533400"/>
          </a:xfrm>
          <a:prstGeom prst="roundRect">
            <a:avLst/>
          </a:prstGeom>
          <a:solidFill>
            <a:srgbClr val="F3EEDF"/>
          </a:solidFill>
          <a:ln w="12700">
            <a:solidFill>
              <a:srgbClr val="B89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1450" rIns="133350" rtlCol="0" anchor="ctr"/>
          <a:lstStyle/>
          <a:p>
            <a:pPr algn="ctr"/>
            <a:r>
              <a:rPr sz="1300" b="1" i="0" dirty="0" err="1">
                <a:solidFill>
                  <a:srgbClr val="B8964A"/>
                </a:solidFill>
                <a:latin typeface="Times New Roman"/>
              </a:rPr>
              <a:t>Notificações</a:t>
            </a:r>
            <a:r>
              <a:rPr sz="1300" b="1" i="0" dirty="0">
                <a:solidFill>
                  <a:srgbClr val="B8964A"/>
                </a:solidFill>
                <a:latin typeface="Times New Roman"/>
              </a:rPr>
              <a:t> (DR):  </a:t>
            </a:r>
            <a:r>
              <a:rPr sz="1400" b="1" i="0" dirty="0">
                <a:solidFill>
                  <a:srgbClr val="0A1A2F"/>
                </a:solidFill>
                <a:latin typeface="Times New Roman"/>
              </a:rPr>
              <a:t>ATT = -18,04  ·  p = 0,008  · </a:t>
            </a:r>
            <a:r>
              <a:rPr lang="pt-BR" sz="1400" b="1" dirty="0">
                <a:solidFill>
                  <a:srgbClr val="0A1A2F"/>
                </a:solidFill>
                <a:latin typeface="Times New Roman"/>
              </a:rPr>
              <a:t>I</a:t>
            </a:r>
            <a:r>
              <a:rPr sz="1400" b="1" i="0" dirty="0" err="1">
                <a:solidFill>
                  <a:srgbClr val="0A1A2F"/>
                </a:solidFill>
                <a:latin typeface="Times New Roman"/>
              </a:rPr>
              <a:t>dentificado</a:t>
            </a:r>
            <a:r>
              <a:rPr sz="1400" b="1" i="0" dirty="0">
                <a:solidFill>
                  <a:srgbClr val="0A1A2F"/>
                </a:solidFill>
                <a:latin typeface="Times New Roman"/>
              </a:rPr>
              <a:t>, </a:t>
            </a:r>
            <a:r>
              <a:rPr sz="1400" b="1" i="0" dirty="0" err="1">
                <a:solidFill>
                  <a:srgbClr val="0A1A2F"/>
                </a:solidFill>
                <a:latin typeface="Times New Roman"/>
              </a:rPr>
              <a:t>porém</a:t>
            </a:r>
            <a:r>
              <a:rPr sz="1400" b="1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00" b="1" i="0" dirty="0" err="1">
                <a:solidFill>
                  <a:srgbClr val="0A1A2F"/>
                </a:solidFill>
                <a:latin typeface="Times New Roman"/>
              </a:rPr>
              <a:t>negativo</a:t>
            </a:r>
            <a:r>
              <a:rPr lang="pt-BR" sz="1400" b="1" i="0" dirty="0">
                <a:solidFill>
                  <a:srgbClr val="0A1A2F"/>
                </a:solidFill>
                <a:latin typeface="Times New Roman"/>
              </a:rPr>
              <a:t>!</a:t>
            </a:r>
            <a:endParaRPr sz="1400" b="1" i="0" dirty="0">
              <a:solidFill>
                <a:srgbClr val="0A1A2F"/>
              </a:solidFill>
              <a:latin typeface="Times New Roman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2925" y="5600700"/>
            <a:ext cx="10791825" cy="533400"/>
          </a:xfrm>
          <a:prstGeom prst="roundRect">
            <a:avLst/>
          </a:prstGeom>
          <a:solidFill>
            <a:srgbClr val="F3EEDF"/>
          </a:solidFill>
          <a:ln w="12700">
            <a:solidFill>
              <a:srgbClr val="B89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1450" rIns="133350" rtlCol="0" anchor="ctr"/>
          <a:lstStyle/>
          <a:p>
            <a:pPr algn="ctr"/>
            <a:r>
              <a:rPr sz="1300" b="1" i="0" dirty="0" err="1">
                <a:solidFill>
                  <a:srgbClr val="B8964A"/>
                </a:solidFill>
                <a:latin typeface="Times New Roman"/>
              </a:rPr>
              <a:t>Feminicídios</a:t>
            </a:r>
            <a:r>
              <a:rPr sz="1300" b="1" i="0" dirty="0">
                <a:solidFill>
                  <a:srgbClr val="B8964A"/>
                </a:solidFill>
                <a:latin typeface="Times New Roman"/>
              </a:rPr>
              <a:t> (DR):  </a:t>
            </a:r>
            <a:r>
              <a:rPr sz="1400" b="1" i="0" dirty="0">
                <a:solidFill>
                  <a:srgbClr val="0A1A2F"/>
                </a:solidFill>
                <a:latin typeface="Times New Roman"/>
              </a:rPr>
              <a:t>ATT = +0,48  ·  p = 0,064  · </a:t>
            </a:r>
            <a:r>
              <a:rPr lang="pt-BR" sz="1400" b="1" dirty="0">
                <a:solidFill>
                  <a:srgbClr val="0A1A2F"/>
                </a:solidFill>
                <a:latin typeface="Times New Roman"/>
              </a:rPr>
              <a:t>Não</a:t>
            </a:r>
            <a:r>
              <a:rPr sz="1400" b="1" i="0" dirty="0">
                <a:solidFill>
                  <a:srgbClr val="0A1A2F"/>
                </a:solidFill>
                <a:latin typeface="Times New Roman"/>
              </a:rPr>
              <a:t>-</a:t>
            </a:r>
            <a:r>
              <a:rPr sz="1400" b="1" i="0" dirty="0" err="1">
                <a:solidFill>
                  <a:srgbClr val="0A1A2F"/>
                </a:solidFill>
                <a:latin typeface="Times New Roman"/>
              </a:rPr>
              <a:t>significativo</a:t>
            </a:r>
            <a:endParaRPr sz="1400" b="1" i="0" dirty="0">
              <a:solidFill>
                <a:srgbClr val="0A1A2F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34750" y="0"/>
            <a:ext cx="47625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2925" y="466725"/>
            <a:ext cx="66675" cy="66675"/>
          </a:xfrm>
          <a:prstGeom prst="ellipse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850" y="40005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80">
                <a:solidFill>
                  <a:srgbClr val="B8964A"/>
                </a:solidFill>
                <a:latin typeface="Times New Roman"/>
              </a:rPr>
              <a:t>RESULTADOS ·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40005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100">
                <a:solidFill>
                  <a:srgbClr val="B8964A"/>
                </a:solidFill>
                <a:latin typeface="Times New Roman"/>
              </a:rPr>
              <a:t>DEAMs 24h  ·  CS DiD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925" y="70485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1047750"/>
            <a:ext cx="47625" cy="80010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952500"/>
            <a:ext cx="104775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0A1A2F"/>
                </a:solidFill>
                <a:latin typeface="Times New Roman"/>
              </a:rPr>
              <a:t>Event Studies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790700"/>
            <a:ext cx="10572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4A5057"/>
                </a:solidFill>
                <a:latin typeface="Times New Roman"/>
              </a:rPr>
              <a:t>Pré-tendências (t &lt; 0) satisfeitas na DR; efeitos dinâmicos em torno da adoção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643890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850" y="65151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 spc="110" dirty="0">
                <a:solidFill>
                  <a:srgbClr val="B8964A"/>
                </a:solidFill>
                <a:latin typeface="Times New Roman"/>
              </a:rPr>
              <a:t>AVALIAÇÃO DE IMPACTO CAUSAL  ·  DEAMs 24h </a:t>
            </a:r>
            <a:r>
              <a:rPr lang="en-US" sz="900" b="1" i="0" spc="110" dirty="0">
                <a:solidFill>
                  <a:srgbClr val="B8964A"/>
                </a:solidFill>
                <a:latin typeface="Times New Roman"/>
              </a:rPr>
              <a:t>NO</a:t>
            </a:r>
            <a:r>
              <a:rPr sz="900" b="1" i="0" spc="110" dirty="0">
                <a:solidFill>
                  <a:srgbClr val="B8964A"/>
                </a:solidFill>
                <a:latin typeface="Times New Roman"/>
              </a:rPr>
              <a:t>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0" y="6515100"/>
            <a:ext cx="1238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B8964A"/>
                </a:solidFill>
                <a:latin typeface="Times New Roman"/>
              </a:rPr>
              <a:t>06 / 08</a:t>
            </a:r>
          </a:p>
        </p:txBody>
      </p:sp>
      <p:pic>
        <p:nvPicPr>
          <p:cNvPr id="14" name="Picture 13" descr="notificacoes_02_event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0" y="2381250"/>
            <a:ext cx="5228475" cy="3429000"/>
          </a:xfrm>
          <a:prstGeom prst="rect">
            <a:avLst/>
          </a:prstGeom>
        </p:spPr>
      </p:pic>
      <p:pic>
        <p:nvPicPr>
          <p:cNvPr id="15" name="Picture 14" descr="feminicidios_02_event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575" y="2381250"/>
            <a:ext cx="5228475" cy="3429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2925" y="585787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4A5057"/>
                </a:solidFill>
                <a:latin typeface="Times New Roman"/>
              </a:rPr>
              <a:t>Notificações — pré-tendências OK (p_Wald = 0,16); pós-adoção negativo.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5857875"/>
            <a:ext cx="5381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4A5057"/>
                </a:solidFill>
                <a:latin typeface="Times New Roman"/>
              </a:rPr>
              <a:t>Feminicídios — pré-tendências OK (p_Wald = 0,21); sem padrão sistemático.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625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334750" y="0"/>
            <a:ext cx="47625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2925" y="466725"/>
            <a:ext cx="66675" cy="66675"/>
          </a:xfrm>
          <a:prstGeom prst="ellipse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850" y="40005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spc="180">
                <a:solidFill>
                  <a:srgbClr val="B8964A"/>
                </a:solidFill>
                <a:latin typeface="Times New Roman"/>
              </a:rPr>
              <a:t>SÍNTESE ·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400050"/>
            <a:ext cx="2571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 spc="100">
                <a:solidFill>
                  <a:srgbClr val="B8964A"/>
                </a:solidFill>
                <a:latin typeface="Times New Roman"/>
              </a:rPr>
              <a:t>DEAMs 24h  ·  CS DiD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2925" y="70485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1047750"/>
            <a:ext cx="47625" cy="80010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952500"/>
            <a:ext cx="104775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3000" b="1" i="0">
                <a:solidFill>
                  <a:srgbClr val="0A1A2F"/>
                </a:solidFill>
                <a:latin typeface="Times New Roman"/>
              </a:rPr>
              <a:t>Conclusões e Limitações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1790700"/>
            <a:ext cx="10572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1">
                <a:solidFill>
                  <a:srgbClr val="4A5057"/>
                </a:solidFill>
                <a:latin typeface="Times New Roman"/>
              </a:rPr>
              <a:t>Ausência de efeito robusto sobre letalidade; acesso identificado mas negativo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925" y="6438900"/>
            <a:ext cx="10791825" cy="9525"/>
          </a:xfrm>
          <a:prstGeom prst="rect">
            <a:avLst/>
          </a:prstGeom>
          <a:solidFill>
            <a:srgbClr val="D8C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850" y="6515100"/>
            <a:ext cx="8572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 spc="110">
                <a:solidFill>
                  <a:srgbClr val="B8964A"/>
                </a:solidFill>
                <a:latin typeface="Times New Roman"/>
              </a:rPr>
              <a:t>AVALIAÇÃO DE IMPACTO CAUSAL  ·  DEAMs 24h NO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0" y="6515100"/>
            <a:ext cx="1238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B8964A"/>
                </a:solidFill>
                <a:latin typeface="Times New Roman"/>
              </a:rPr>
              <a:t>07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2925" y="2381250"/>
            <a:ext cx="571500" cy="3810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925" y="2457450"/>
            <a:ext cx="5143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>
                <a:solidFill>
                  <a:srgbClr val="0A1A2F"/>
                </a:solidFill>
                <a:latin typeface="Times New Roman"/>
              </a:rPr>
              <a:t>Conclusões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925" y="2857500"/>
            <a:ext cx="5191125" cy="1423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450" b="1" i="0" dirty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Acesso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: ATT = -18,04 (p = 0,008), com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pré-tendências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restauradas</a:t>
            </a:r>
            <a:endParaRPr sz="1450" b="0" i="0" dirty="0">
              <a:solidFill>
                <a:srgbClr val="0A1A2F"/>
              </a:solidFill>
              <a:latin typeface="Times New Roman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450" b="1" i="0" dirty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Sinal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negativo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em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aberto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: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deslocamento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do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registro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saúde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(SINAN)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ao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canal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policial</a:t>
            </a:r>
            <a:endParaRPr sz="1450" b="0" i="0" dirty="0">
              <a:solidFill>
                <a:srgbClr val="0A1A2F"/>
              </a:solidFill>
              <a:latin typeface="Times New Roman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450" b="1" i="0" dirty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Princípio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: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enviesado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vs.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não-enviesado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importa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mais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que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significância</a:t>
            </a:r>
            <a:endParaRPr sz="1450" b="0" i="0" dirty="0">
              <a:solidFill>
                <a:srgbClr val="0A1A2F"/>
              </a:solidFill>
              <a:latin typeface="Times New Roman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43625" y="2381250"/>
            <a:ext cx="571500" cy="38100"/>
          </a:xfrm>
          <a:prstGeom prst="rect">
            <a:avLst/>
          </a:prstGeom>
          <a:solidFill>
            <a:srgbClr val="B89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3625" y="2457450"/>
            <a:ext cx="5143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>
                <a:solidFill>
                  <a:srgbClr val="0A1A2F"/>
                </a:solidFill>
                <a:latin typeface="Times New Roman"/>
              </a:rPr>
              <a:t>Limitações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3625" y="2857500"/>
            <a:ext cx="5191125" cy="105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450" b="1" i="0" dirty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Amostra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só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com DEAM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única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(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metrópoles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excluídas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):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escopo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restrito</a:t>
            </a:r>
            <a:endParaRPr sz="1450" b="0" i="0" dirty="0">
              <a:solidFill>
                <a:srgbClr val="0A1A2F"/>
              </a:solidFill>
              <a:latin typeface="Times New Roman"/>
            </a:endParaRP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450" b="1" i="0" dirty="0">
                <a:solidFill>
                  <a:srgbClr val="B8964A"/>
                </a:solidFill>
                <a:latin typeface="Times New Roman"/>
              </a:rPr>
              <a:t>•  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Erro de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medida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no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ano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de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transição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(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levantamento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manual):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viés</a:t>
            </a:r>
            <a:r>
              <a:rPr sz="1450" b="0" i="0" dirty="0">
                <a:solidFill>
                  <a:srgbClr val="0A1A2F"/>
                </a:solidFill>
                <a:latin typeface="Times New Roman"/>
              </a:rPr>
              <a:t> de </a:t>
            </a:r>
            <a:r>
              <a:rPr sz="1450" b="0" i="0" dirty="0" err="1">
                <a:solidFill>
                  <a:srgbClr val="0A1A2F"/>
                </a:solidFill>
                <a:latin typeface="Times New Roman"/>
              </a:rPr>
              <a:t>atenuação</a:t>
            </a:r>
            <a:endParaRPr sz="1450" b="0" i="0" dirty="0">
              <a:solidFill>
                <a:srgbClr val="0A1A2F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903</Words>
  <Application>Microsoft Office PowerPoint</Application>
  <PresentationFormat>Widescreen</PresentationFormat>
  <Paragraphs>195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8</vt:i4>
      </vt:variant>
    </vt:vector>
  </HeadingPairs>
  <TitlesOfParts>
    <vt:vector size="22" baseType="lpstr">
      <vt:lpstr>Arial</vt:lpstr>
      <vt:lpstr>Calibri</vt:lpstr>
      <vt:lpstr>Symbol</vt:lpstr>
      <vt:lpstr>Times New Roman</vt:lpstr>
      <vt:lpstr>Wingdings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Rafael Issa de Lima</dc:creator>
  <dc:description/>
  <cp:lastModifiedBy>Márcia Santana</cp:lastModifiedBy>
  <cp:revision>13</cp:revision>
  <dcterms:modified xsi:type="dcterms:W3CDTF">2026-06-22T21:01:57Z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